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1"/>
  </p:notesMasterIdLst>
  <p:sldIdLst>
    <p:sldId id="464" r:id="rId5"/>
    <p:sldId id="401" r:id="rId6"/>
    <p:sldId id="465" r:id="rId7"/>
    <p:sldId id="466" r:id="rId8"/>
    <p:sldId id="467" r:id="rId9"/>
    <p:sldId id="45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61223B"/>
    <a:srgbClr val="3A3E40"/>
    <a:srgbClr val="F1EBDF"/>
    <a:srgbClr val="461B2B"/>
    <a:srgbClr val="461A2B"/>
    <a:srgbClr val="4D5356"/>
    <a:srgbClr val="E2D6C0"/>
    <a:srgbClr val="8B23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29" autoAdjust="0"/>
    <p:restoredTop sz="70322"/>
  </p:normalViewPr>
  <p:slideViewPr>
    <p:cSldViewPr snapToGrid="0" snapToObjects="1" showGuides="1">
      <p:cViewPr varScale="1">
        <p:scale>
          <a:sx n="58" d="100"/>
          <a:sy n="58" d="100"/>
        </p:scale>
        <p:origin x="1080" y="48"/>
      </p:cViewPr>
      <p:guideLst>
        <p:guide orient="horz" pos="2001"/>
        <p:guide pos="3840"/>
        <p:guide orient="horz" pos="845"/>
        <p:guide orient="horz" pos="226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notesViewPr>
    <p:cSldViewPr snapToGrid="0" snapToObjects="1">
      <p:cViewPr varScale="1">
        <p:scale>
          <a:sx n="158" d="100"/>
          <a:sy n="158" d="100"/>
        </p:scale>
        <p:origin x="564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69B49-EEFB-4B49-ACAD-82B53A8DDF70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F6EFC-B03E-874C-9CD9-41B66C8AE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Picture placeholder slide layout</a:t>
            </a:r>
          </a:p>
          <a:p>
            <a:endParaRPr lang="en-GB" dirty="0">
              <a:solidFill>
                <a:srgbClr val="000000"/>
              </a:solidFill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53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041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Cover/End slide layout</a:t>
            </a:r>
            <a:endParaRPr lang="en-ZA" b="1" i="0" dirty="0">
              <a:solidFill>
                <a:srgbClr val="252423"/>
              </a:solidFill>
              <a:effectLst/>
              <a:latin typeface="-apple-system"/>
            </a:endParaRP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78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5" Type="http://schemas.microsoft.com/office/2007/relationships/hdphoto" Target="../media/hdphoto3.wdp"/><Relationship Id="rId4" Type="http://schemas.openxmlformats.org/officeDocument/2006/relationships/image" Target="../media/image10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placehol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A4D5691A-DF2A-B631-3356-F20E32A723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153150"/>
          </a:xfrm>
          <a:custGeom>
            <a:avLst/>
            <a:gdLst>
              <a:gd name="connsiteX0" fmla="*/ 0 w 12192000"/>
              <a:gd name="connsiteY0" fmla="*/ 0 h 6153150"/>
              <a:gd name="connsiteX1" fmla="*/ 12192000 w 12192000"/>
              <a:gd name="connsiteY1" fmla="*/ 0 h 6153150"/>
              <a:gd name="connsiteX2" fmla="*/ 12192000 w 12192000"/>
              <a:gd name="connsiteY2" fmla="*/ 2812338 h 6153150"/>
              <a:gd name="connsiteX3" fmla="*/ 12192000 w 12192000"/>
              <a:gd name="connsiteY3" fmla="*/ 4980890 h 6153150"/>
              <a:gd name="connsiteX4" fmla="*/ 12190158 w 12192000"/>
              <a:gd name="connsiteY4" fmla="*/ 5028464 h 6153150"/>
              <a:gd name="connsiteX5" fmla="*/ 11268702 w 12192000"/>
              <a:gd name="connsiteY5" fmla="*/ 6150849 h 6153150"/>
              <a:gd name="connsiteX6" fmla="*/ 11218565 w 12192000"/>
              <a:gd name="connsiteY6" fmla="*/ 6153150 h 6153150"/>
              <a:gd name="connsiteX7" fmla="*/ 732479 w 12192000"/>
              <a:gd name="connsiteY7" fmla="*/ 6153150 h 6153150"/>
              <a:gd name="connsiteX8" fmla="*/ 0 w 12192000"/>
              <a:gd name="connsiteY8" fmla="*/ 6152812 h 615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153150">
                <a:moveTo>
                  <a:pt x="0" y="0"/>
                </a:moveTo>
                <a:lnTo>
                  <a:pt x="12192000" y="0"/>
                </a:lnTo>
                <a:lnTo>
                  <a:pt x="12192000" y="2812338"/>
                </a:lnTo>
                <a:lnTo>
                  <a:pt x="12192000" y="4980890"/>
                </a:lnTo>
                <a:lnTo>
                  <a:pt x="12190158" y="5028464"/>
                </a:lnTo>
                <a:cubicBezTo>
                  <a:pt x="12139394" y="5640573"/>
                  <a:pt x="11907055" y="6089798"/>
                  <a:pt x="11268702" y="6150849"/>
                </a:cubicBezTo>
                <a:lnTo>
                  <a:pt x="11218565" y="6153150"/>
                </a:lnTo>
                <a:lnTo>
                  <a:pt x="732479" y="6153150"/>
                </a:lnTo>
                <a:lnTo>
                  <a:pt x="0" y="61528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A2218D35-116E-8153-354A-A6E99E1315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77" y="-214184"/>
            <a:ext cx="2066165" cy="3790815"/>
          </a:xfrm>
          <a:prstGeom prst="rect">
            <a:avLst/>
          </a:prstGeom>
        </p:spPr>
      </p:pic>
      <p:pic>
        <p:nvPicPr>
          <p:cNvPr id="17" name="Picture 16" descr="Graphical user interface&#10;&#10;Description automatically generated with medium confidence" hidden="1">
            <a:extLst>
              <a:ext uri="{FF2B5EF4-FFF2-40B4-BE49-F238E27FC236}">
                <a16:creationId xmlns:a16="http://schemas.microsoft.com/office/drawing/2014/main" id="{9132A00F-2C35-A6C6-E1AB-2CC3680605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7000"/>
          </a:blip>
          <a:stretch>
            <a:fillRect/>
          </a:stretch>
        </p:blipFill>
        <p:spPr>
          <a:xfrm>
            <a:off x="-8170" y="0"/>
            <a:ext cx="12200170" cy="6879223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CD36E32-2A40-D24A-8390-E02F528447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3429000"/>
            <a:ext cx="8917172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63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id maroon backgrou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FBB9BB2-B12A-6B43-D83C-0CF7C73989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004928" y="7654"/>
            <a:ext cx="2187072" cy="6866389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E75E6900-34EA-B252-FDC5-6373F9E10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3429000"/>
            <a:ext cx="8917172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9BC7BE7-92CB-84E6-6352-F8D05593BDF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"/>
            <a:ext cx="3329614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20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10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patter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">
            <a:extLst>
              <a:ext uri="{FF2B5EF4-FFF2-40B4-BE49-F238E27FC236}">
                <a16:creationId xmlns:a16="http://schemas.microsoft.com/office/drawing/2014/main" id="{92A5C720-0429-4541-B977-B6E1AE463E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674"/>
            <a:ext cx="12190620" cy="5180748"/>
          </a:xfrm>
          <a:prstGeom prst="rect">
            <a:avLst/>
          </a:prstGeom>
        </p:spPr>
      </p:pic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329" y="1701053"/>
            <a:ext cx="11506253" cy="4793876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329" y="266387"/>
            <a:ext cx="8902997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491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2" orient="horz" pos="86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pattern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790"/>
            <a:ext cx="4041984" cy="5180631"/>
          </a:xfrm>
          <a:prstGeom prst="rect">
            <a:avLst/>
          </a:prstGeom>
        </p:spPr>
      </p:pic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701053"/>
            <a:ext cx="7553252" cy="479718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242" y="1701053"/>
            <a:ext cx="3703121" cy="4797183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265295"/>
            <a:ext cx="8910084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628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948D6589-07BC-504A-9A95-293D1FAB3969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 2">
            <a:extLst>
              <a:ext uri="{FF2B5EF4-FFF2-40B4-BE49-F238E27FC236}">
                <a16:creationId xmlns:a16="http://schemas.microsoft.com/office/drawing/2014/main" id="{2FCD4CF8-0C12-EA43-B791-77B95BE3B8A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1701053"/>
            <a:ext cx="5546206" cy="4788936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A21EA00-5D4A-874F-9DE9-2C510BCA99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19918"/>
            <a:ext cx="5546208" cy="1019176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711302C3-77CD-E045-AC17-217A8FF652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2" y="1701053"/>
            <a:ext cx="5546208" cy="4788936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D74D22F-7C30-804B-B618-3432E30FA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219918"/>
            <a:ext cx="5546209" cy="10191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87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columns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White Rectangle">
            <a:extLst>
              <a:ext uri="{FF2B5EF4-FFF2-40B4-BE49-F238E27FC236}">
                <a16:creationId xmlns:a16="http://schemas.microsoft.com/office/drawing/2014/main" id="{AF7E239E-9757-3248-A127-4F42F0637408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253778" y="1701053"/>
            <a:ext cx="3600000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6C5C79B-1FC7-684E-8098-DD6B7E0A01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3778" y="216396"/>
            <a:ext cx="3600000" cy="106730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4BF8A05F-FD1D-CD48-A3CF-DE8AF43F697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97619" y="1701053"/>
            <a:ext cx="3599998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5BE914C9-9E29-9D45-8E51-BE422FBBE2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97618" y="215776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1458" y="1701053"/>
            <a:ext cx="3600000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A2B4331-7730-C944-82F4-41B3F12BA6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458" y="215776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055648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260606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 flipV="1">
            <a:off x="260883" y="-43952"/>
            <a:ext cx="4785278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1701053"/>
            <a:ext cx="6474045" cy="4786833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01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maroon bann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735" t="68607" r="9714" b="8720"/>
          <a:stretch/>
        </p:blipFill>
        <p:spPr>
          <a:xfrm>
            <a:off x="-7951" y="5669751"/>
            <a:ext cx="12204000" cy="1195743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84670" y="5669752"/>
            <a:ext cx="2160000" cy="11677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1" y="1697394"/>
            <a:ext cx="11504429" cy="37815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7" name="White.Banner.Top">
            <a:extLst>
              <a:ext uri="{FF2B5EF4-FFF2-40B4-BE49-F238E27FC236}">
                <a16:creationId xmlns:a16="http://schemas.microsoft.com/office/drawing/2014/main" id="{C181FDE8-2CDE-9B53-F6F0-DC7BB4C9FF0A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11495049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Gold strip">
            <a:extLst>
              <a:ext uri="{FF2B5EF4-FFF2-40B4-BE49-F238E27FC236}">
                <a16:creationId xmlns:a16="http://schemas.microsoft.com/office/drawing/2014/main" id="{B7788DC2-C383-B063-CAF1-06925BC59BE4}"/>
              </a:ext>
            </a:extLst>
          </p:cNvPr>
          <p:cNvSpPr/>
          <p:nvPr userDrawn="1"/>
        </p:nvSpPr>
        <p:spPr>
          <a:xfrm>
            <a:off x="0" y="-10274"/>
            <a:ext cx="12192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1EB4AFB9-AD46-D1E1-906D-A134828DBB34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000" b="0" i="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23EA05-838C-E5C6-2C9D-1239932B0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329" y="5851917"/>
            <a:ext cx="9238881" cy="80337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1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1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1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</a:t>
            </a:r>
          </a:p>
        </p:txBody>
      </p:sp>
    </p:spTree>
    <p:extLst>
      <p:ext uri="{BB962C8B-B14F-4D97-AF65-F5344CB8AC3E}">
        <p14:creationId xmlns:p14="http://schemas.microsoft.com/office/powerpoint/2010/main" val="4043099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maroon bann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735" t="68607" r="9714" b="8720"/>
          <a:stretch/>
        </p:blipFill>
        <p:spPr>
          <a:xfrm>
            <a:off x="-7951" y="5669751"/>
            <a:ext cx="12204000" cy="1195743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84670" y="5669752"/>
            <a:ext cx="2160000" cy="11677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82226" y="1697394"/>
            <a:ext cx="7462444" cy="37815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7" name="White.Banner.Top">
            <a:extLst>
              <a:ext uri="{FF2B5EF4-FFF2-40B4-BE49-F238E27FC236}">
                <a16:creationId xmlns:a16="http://schemas.microsoft.com/office/drawing/2014/main" id="{C181FDE8-2CDE-9B53-F6F0-DC7BB4C9FF0A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11495049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Gold strip">
            <a:extLst>
              <a:ext uri="{FF2B5EF4-FFF2-40B4-BE49-F238E27FC236}">
                <a16:creationId xmlns:a16="http://schemas.microsoft.com/office/drawing/2014/main" id="{B7788DC2-C383-B063-CAF1-06925BC59BE4}"/>
              </a:ext>
            </a:extLst>
          </p:cNvPr>
          <p:cNvSpPr/>
          <p:nvPr userDrawn="1"/>
        </p:nvSpPr>
        <p:spPr>
          <a:xfrm>
            <a:off x="0" y="-10274"/>
            <a:ext cx="12192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1EB4AFB9-AD46-D1E1-906D-A134828DBB34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000" b="0" i="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23EA05-838C-E5C6-2C9D-1239932B0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329" y="5851917"/>
            <a:ext cx="9238881" cy="80337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1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1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1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</a:t>
            </a:r>
          </a:p>
        </p:txBody>
      </p:sp>
      <p:pic>
        <p:nvPicPr>
          <p:cNvPr id="4" name="Pattern">
            <a:extLst>
              <a:ext uri="{FF2B5EF4-FFF2-40B4-BE49-F238E27FC236}">
                <a16:creationId xmlns:a16="http://schemas.microsoft.com/office/drawing/2014/main" id="{4D545818-D6DD-5899-FA21-137F0F411C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40000"/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17952"/>
          <a:stretch/>
        </p:blipFill>
        <p:spPr>
          <a:xfrm>
            <a:off x="1379" y="1417791"/>
            <a:ext cx="4041984" cy="4250610"/>
          </a:xfrm>
          <a:prstGeom prst="rect">
            <a:avLst/>
          </a:prstGeom>
        </p:spPr>
      </p:pic>
      <p:sp>
        <p:nvSpPr>
          <p:cNvPr id="5" name="Sub-heading">
            <a:extLst>
              <a:ext uri="{FF2B5EF4-FFF2-40B4-BE49-F238E27FC236}">
                <a16:creationId xmlns:a16="http://schemas.microsoft.com/office/drawing/2014/main" id="{E9D14674-E58C-AC8B-92E7-C82D828AC1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0242" y="1701054"/>
            <a:ext cx="3703121" cy="3777844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</p:spTree>
    <p:extLst>
      <p:ext uri="{BB962C8B-B14F-4D97-AF65-F5344CB8AC3E}">
        <p14:creationId xmlns:p14="http://schemas.microsoft.com/office/powerpoint/2010/main" val="65183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404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ttern Maroon Bottom">
            <a:extLst>
              <a:ext uri="{FF2B5EF4-FFF2-40B4-BE49-F238E27FC236}">
                <a16:creationId xmlns:a16="http://schemas.microsoft.com/office/drawing/2014/main" id="{9130908F-4F0E-9ACF-557E-28B6A3C6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264823" y="4471002"/>
            <a:ext cx="4785278" cy="2148599"/>
          </a:xfrm>
          <a:prstGeom prst="rect">
            <a:avLst/>
          </a:prstGeom>
        </p:spPr>
      </p:pic>
      <p:pic>
        <p:nvPicPr>
          <p:cNvPr id="6" name="Pattern Top">
            <a:extLst>
              <a:ext uri="{FF2B5EF4-FFF2-40B4-BE49-F238E27FC236}">
                <a16:creationId xmlns:a16="http://schemas.microsoft.com/office/drawing/2014/main" id="{EBD1AE1D-321F-7D3D-9087-1A30E530623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87106"/>
          <a:stretch/>
        </p:blipFill>
        <p:spPr>
          <a:xfrm flipH="1" flipV="1">
            <a:off x="316373" y="1422399"/>
            <a:ext cx="4785278" cy="682237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4D96D98B-ED91-659A-B3FB-B42BC7B37E6C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866" t="12894" r="48528" b="71220"/>
          <a:stretch/>
        </p:blipFill>
        <p:spPr>
          <a:xfrm flipH="1" flipV="1">
            <a:off x="316373" y="-43961"/>
            <a:ext cx="4784400" cy="14508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0F0F078F-8A4E-A3A0-9754-9B7523B147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823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51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ttern Maroon Bottom">
            <a:extLst>
              <a:ext uri="{FF2B5EF4-FFF2-40B4-BE49-F238E27FC236}">
                <a16:creationId xmlns:a16="http://schemas.microsoft.com/office/drawing/2014/main" id="{9130908F-4F0E-9ACF-557E-28B6A3C6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264823" y="4471002"/>
            <a:ext cx="4785278" cy="2148599"/>
          </a:xfrm>
          <a:prstGeom prst="rect">
            <a:avLst/>
          </a:prstGeom>
        </p:spPr>
      </p:pic>
      <p:pic>
        <p:nvPicPr>
          <p:cNvPr id="6" name="Pattern Top">
            <a:extLst>
              <a:ext uri="{FF2B5EF4-FFF2-40B4-BE49-F238E27FC236}">
                <a16:creationId xmlns:a16="http://schemas.microsoft.com/office/drawing/2014/main" id="{EBD1AE1D-321F-7D3D-9087-1A30E530623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87106"/>
          <a:stretch/>
        </p:blipFill>
        <p:spPr>
          <a:xfrm flipH="1" flipV="1">
            <a:off x="316373" y="1422399"/>
            <a:ext cx="4785278" cy="682237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4D96D98B-ED91-659A-B3FB-B42BC7B37E6C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866" t="12894" r="48528" b="71220"/>
          <a:stretch/>
        </p:blipFill>
        <p:spPr>
          <a:xfrm flipH="1" flipV="1">
            <a:off x="316373" y="-43961"/>
            <a:ext cx="4784400" cy="14508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322BCAE-CD52-F05E-AB35-904BBB08A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597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maroo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1" y="1697394"/>
            <a:ext cx="11504429" cy="480165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8886865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283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maroon banner and pattern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oon Banner">
            <a:extLst>
              <a:ext uri="{FF2B5EF4-FFF2-40B4-BE49-F238E27FC236}">
                <a16:creationId xmlns:a16="http://schemas.microsoft.com/office/drawing/2014/main" id="{27B3C7B2-3D0E-A7A9-4946-A4D6623DB66E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10" name="SU Logo">
            <a:extLst>
              <a:ext uri="{FF2B5EF4-FFF2-40B4-BE49-F238E27FC236}">
                <a16:creationId xmlns:a16="http://schemas.microsoft.com/office/drawing/2014/main" id="{24C9EA30-79BC-2EF9-2B1B-F7FC424B424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790"/>
            <a:ext cx="4041984" cy="5180631"/>
          </a:xfrm>
          <a:prstGeom prst="rect">
            <a:avLst/>
          </a:prstGeom>
        </p:spPr>
      </p:pic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701053"/>
            <a:ext cx="7553252" cy="479718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242" y="1701053"/>
            <a:ext cx="3703121" cy="4797183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330" y="272383"/>
            <a:ext cx="8910084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000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 with maroon bann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Sand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260606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 flipV="1">
            <a:off x="260883" y="-43952"/>
            <a:ext cx="4785278" cy="2148599"/>
          </a:xfrm>
          <a:prstGeom prst="rect">
            <a:avLst/>
          </a:prstGeom>
        </p:spPr>
      </p:pic>
      <p:pic>
        <p:nvPicPr>
          <p:cNvPr id="4" name="Maroon Banner">
            <a:extLst>
              <a:ext uri="{FF2B5EF4-FFF2-40B4-BE49-F238E27FC236}">
                <a16:creationId xmlns:a16="http://schemas.microsoft.com/office/drawing/2014/main" id="{011D927B-294B-9142-D12A-08A577F8979A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6" name="SU Logo">
            <a:extLst>
              <a:ext uri="{FF2B5EF4-FFF2-40B4-BE49-F238E27FC236}">
                <a16:creationId xmlns:a16="http://schemas.microsoft.com/office/drawing/2014/main" id="{C79BD1A6-E2E5-8AFF-1C5E-4E48D9AD9C6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6C67055D-7861-6C38-2642-820C3E8B34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5415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776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/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">
            <a:extLst>
              <a:ext uri="{FF2B5EF4-FFF2-40B4-BE49-F238E27FC236}">
                <a16:creationId xmlns:a16="http://schemas.microsoft.com/office/drawing/2014/main" id="{9ED6FEF4-BAF3-0D66-B6BF-B81560E0E53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"/>
            <a:ext cx="12192000" cy="68580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700954"/>
            <a:ext cx="4411640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98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.Strip.Footer">
            <a:extLst>
              <a:ext uri="{FF2B5EF4-FFF2-40B4-BE49-F238E27FC236}">
                <a16:creationId xmlns:a16="http://schemas.microsoft.com/office/drawing/2014/main" id="{CA1C759E-C34F-40B0-240D-BD3B24826B0B}"/>
              </a:ext>
            </a:extLst>
          </p:cNvPr>
          <p:cNvSpPr/>
          <p:nvPr userDrawn="1"/>
        </p:nvSpPr>
        <p:spPr>
          <a:xfrm>
            <a:off x="0" y="6585222"/>
            <a:ext cx="12192000" cy="275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5DE18A1C-E612-604E-AA9F-9A73E465BA68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Engineering ·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EyobuNjineli</a:t>
            </a:r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 ·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Ingenieurswese</a:t>
            </a:r>
            <a:endParaRPr lang="en-GB" sz="1000" b="0" i="0" dirty="0">
              <a:solidFill>
                <a:schemeClr val="accent1"/>
              </a:solidFill>
              <a:latin typeface="Trebuchet MS" panose="020B0703020202090204" pitchFamily="34" charset="0"/>
            </a:endParaRPr>
          </a:p>
        </p:txBody>
      </p:sp>
      <p:cxnSp>
        <p:nvCxnSpPr>
          <p:cNvPr id="7" name="Gold line">
            <a:extLst>
              <a:ext uri="{FF2B5EF4-FFF2-40B4-BE49-F238E27FC236}">
                <a16:creationId xmlns:a16="http://schemas.microsoft.com/office/drawing/2014/main" id="{3693D1F9-4515-3318-7EC4-D360748AA11D}"/>
              </a:ext>
            </a:extLst>
          </p:cNvPr>
          <p:cNvCxnSpPr>
            <a:cxnSpLocks/>
          </p:cNvCxnSpPr>
          <p:nvPr userDrawn="1"/>
        </p:nvCxnSpPr>
        <p:spPr>
          <a:xfrm>
            <a:off x="0" y="6590156"/>
            <a:ext cx="1219200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01AC438-5C4B-A74B-973C-02E8105BD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242" y="1708280"/>
            <a:ext cx="11511516" cy="478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White.Banner.Top">
            <a:extLst>
              <a:ext uri="{FF2B5EF4-FFF2-40B4-BE49-F238E27FC236}">
                <a16:creationId xmlns:a16="http://schemas.microsoft.com/office/drawing/2014/main" id="{D70D17EB-87E2-EC45-B0B0-B16E5C2558F6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D9086DBD-5A09-A082-83CD-FF70F4F45CF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84456" y="1"/>
            <a:ext cx="2609737" cy="1410832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C044E2A-3062-F245-818F-F465A048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049" y="265152"/>
            <a:ext cx="8903973" cy="1052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17" name="Straight Connector 16" hidden="1">
            <a:extLst>
              <a:ext uri="{FF2B5EF4-FFF2-40B4-BE49-F238E27FC236}">
                <a16:creationId xmlns:a16="http://schemas.microsoft.com/office/drawing/2014/main" id="{D5D9A9DC-00EF-2E31-9F03-326088DB4048}"/>
              </a:ext>
            </a:extLst>
          </p:cNvPr>
          <p:cNvCxnSpPr/>
          <p:nvPr userDrawn="1"/>
        </p:nvCxnSpPr>
        <p:spPr>
          <a:xfrm>
            <a:off x="-355601" y="1413743"/>
            <a:ext cx="139264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FFDA071B-3A7E-3265-CD6B-8B290A273793}"/>
              </a:ext>
            </a:extLst>
          </p:cNvPr>
          <p:cNvSpPr/>
          <p:nvPr userDrawn="1"/>
        </p:nvSpPr>
        <p:spPr>
          <a:xfrm>
            <a:off x="340242" y="354420"/>
            <a:ext cx="11511517" cy="614289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 hidden="1">
            <a:extLst>
              <a:ext uri="{FF2B5EF4-FFF2-40B4-BE49-F238E27FC236}">
                <a16:creationId xmlns:a16="http://schemas.microsoft.com/office/drawing/2014/main" id="{22D32F58-0A4C-7878-21CF-B413B294E22E}"/>
              </a:ext>
            </a:extLst>
          </p:cNvPr>
          <p:cNvSpPr/>
          <p:nvPr userDrawn="1"/>
        </p:nvSpPr>
        <p:spPr>
          <a:xfrm>
            <a:off x="9584456" y="313273"/>
            <a:ext cx="342272" cy="34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 hidden="1">
            <a:extLst>
              <a:ext uri="{FF2B5EF4-FFF2-40B4-BE49-F238E27FC236}">
                <a16:creationId xmlns:a16="http://schemas.microsoft.com/office/drawing/2014/main" id="{FA2AA88C-E7FB-D2AE-FFF2-E135C26E6D42}"/>
              </a:ext>
            </a:extLst>
          </p:cNvPr>
          <p:cNvCxnSpPr/>
          <p:nvPr userDrawn="1"/>
        </p:nvCxnSpPr>
        <p:spPr>
          <a:xfrm>
            <a:off x="9249110" y="-425303"/>
            <a:ext cx="0" cy="7549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 hidden="1">
            <a:extLst>
              <a:ext uri="{FF2B5EF4-FFF2-40B4-BE49-F238E27FC236}">
                <a16:creationId xmlns:a16="http://schemas.microsoft.com/office/drawing/2014/main" id="{BBA097D7-678A-F0BE-FE91-E7E8F3A9FBFD}"/>
              </a:ext>
            </a:extLst>
          </p:cNvPr>
          <p:cNvSpPr/>
          <p:nvPr userDrawn="1"/>
        </p:nvSpPr>
        <p:spPr>
          <a:xfrm>
            <a:off x="9262234" y="6504999"/>
            <a:ext cx="342272" cy="34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 hidden="1">
            <a:extLst>
              <a:ext uri="{FF2B5EF4-FFF2-40B4-BE49-F238E27FC236}">
                <a16:creationId xmlns:a16="http://schemas.microsoft.com/office/drawing/2014/main" id="{B48ACC47-CB5D-F4B3-89E0-DFC2258C411D}"/>
              </a:ext>
            </a:extLst>
          </p:cNvPr>
          <p:cNvCxnSpPr/>
          <p:nvPr userDrawn="1"/>
        </p:nvCxnSpPr>
        <p:spPr>
          <a:xfrm>
            <a:off x="-355058" y="1697394"/>
            <a:ext cx="1353234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1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697" r:id="rId3"/>
    <p:sldLayoutId id="2147483725" r:id="rId4"/>
    <p:sldLayoutId id="2147483712" r:id="rId5"/>
    <p:sldLayoutId id="2147483716" r:id="rId6"/>
    <p:sldLayoutId id="2147483741" r:id="rId7"/>
    <p:sldLayoutId id="2147483729" r:id="rId8"/>
    <p:sldLayoutId id="2147483769" r:id="rId9"/>
    <p:sldLayoutId id="2147483768" r:id="rId10"/>
    <p:sldLayoutId id="2147483757" r:id="rId11"/>
    <p:sldLayoutId id="2147483760" r:id="rId12"/>
    <p:sldLayoutId id="2147483761" r:id="rId13"/>
    <p:sldLayoutId id="2147483764" r:id="rId14"/>
    <p:sldLayoutId id="2147483756" r:id="rId15"/>
    <p:sldLayoutId id="2147483765" r:id="rId16"/>
    <p:sldLayoutId id="2147483766" r:id="rId17"/>
    <p:sldLayoutId id="2147483755" r:id="rId18"/>
    <p:sldLayoutId id="21474837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1"/>
          </a:solidFill>
          <a:latin typeface="Trebuchet MS" panose="020B070302020209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95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pos="7333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  <p15:guide id="7" orient="horz" pos="232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8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17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184D0781-1DA8-FDB7-FABB-EF08A20EBD3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13252" y="0"/>
            <a:ext cx="12192000" cy="6153150"/>
          </a:xfr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9382998-1525-CB90-FD23-947A67D5027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8172" y="-361145"/>
            <a:ext cx="12305869" cy="3790815"/>
            <a:chOff x="-8172" y="-361145"/>
            <a:chExt cx="12305869" cy="3790815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405B3FB-CC1B-40FE-8C78-EB7054A3CEB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478106" y="-361145"/>
              <a:ext cx="1819591" cy="3790815"/>
            </a:xfrm>
            <a:prstGeom prst="rect">
              <a:avLst/>
            </a:prstGeom>
          </p:spPr>
        </p:pic>
        <p:sp>
          <p:nvSpPr>
            <p:cNvPr id="13" name="Gradient overlay">
              <a:extLst>
                <a:ext uri="{FF2B5EF4-FFF2-40B4-BE49-F238E27FC236}">
                  <a16:creationId xmlns:a16="http://schemas.microsoft.com/office/drawing/2014/main" id="{9B4A3B70-05FE-987A-2A83-E0DD9C9017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-8172" y="2"/>
              <a:ext cx="12200169" cy="1862966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alpha val="0"/>
                    <a:lumMod val="0"/>
                  </a:schemeClr>
                </a:gs>
                <a:gs pos="100000">
                  <a:srgbClr val="0000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14" name="SU Logo">
              <a:extLst>
                <a:ext uri="{FF2B5EF4-FFF2-40B4-BE49-F238E27FC236}">
                  <a16:creationId xmlns:a16="http://schemas.microsoft.com/office/drawing/2014/main" id="{D9F0FF84-540A-4A84-DB71-33D6DE9E7CF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251" y="-1166"/>
              <a:ext cx="2780212" cy="1502988"/>
            </a:xfrm>
            <a:prstGeom prst="rect">
              <a:avLst/>
            </a:prstGeom>
          </p:spPr>
        </p:pic>
      </p:grpSp>
      <p:sp>
        <p:nvSpPr>
          <p:cNvPr id="15" name="Photo by ...">
            <a:extLst>
              <a:ext uri="{FF2B5EF4-FFF2-40B4-BE49-F238E27FC236}">
                <a16:creationId xmlns:a16="http://schemas.microsoft.com/office/drawing/2014/main" id="{F038559E-42AD-AF5F-64FD-D66D4CC469A7}"/>
              </a:ext>
            </a:extLst>
          </p:cNvPr>
          <p:cNvSpPr txBox="1"/>
          <p:nvPr/>
        </p:nvSpPr>
        <p:spPr>
          <a:xfrm>
            <a:off x="9987402" y="5888548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7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16" name="SU shape">
            <a:extLst>
              <a:ext uri="{FF2B5EF4-FFF2-40B4-BE49-F238E27FC236}">
                <a16:creationId xmlns:a16="http://schemas.microsoft.com/office/drawing/2014/main" id="{FDF7EEF7-FD95-CAD5-0FF9-5802CCA29236}"/>
              </a:ext>
            </a:extLst>
          </p:cNvPr>
          <p:cNvSpPr/>
          <p:nvPr/>
        </p:nvSpPr>
        <p:spPr>
          <a:xfrm>
            <a:off x="0" y="2740781"/>
            <a:ext cx="5261811" cy="2832794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A60AD8-CAE2-5086-D3EF-B2339B4C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479" y="2986105"/>
            <a:ext cx="4648853" cy="2342147"/>
          </a:xfrm>
        </p:spPr>
        <p:txBody>
          <a:bodyPr/>
          <a:lstStyle/>
          <a:p>
            <a:r>
              <a:rPr lang="en-US" dirty="0"/>
              <a:t>Weekly Meeting</a:t>
            </a:r>
            <a:br>
              <a:rPr lang="en-US" dirty="0"/>
            </a:br>
            <a:r>
              <a:rPr lang="en-US" dirty="0"/>
              <a:t>5 Mei 2026</a:t>
            </a:r>
            <a:br>
              <a:rPr lang="en-US" dirty="0"/>
            </a:br>
            <a:r>
              <a:rPr lang="en-US" dirty="0"/>
              <a:t>By Pieter Breytenbach</a:t>
            </a:r>
          </a:p>
        </p:txBody>
      </p:sp>
    </p:spTree>
    <p:extLst>
      <p:ext uri="{BB962C8B-B14F-4D97-AF65-F5344CB8AC3E}">
        <p14:creationId xmlns:p14="http://schemas.microsoft.com/office/powerpoint/2010/main" val="2587152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82BF2-FD12-28C4-5819-9C0A819C8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Preliminary Detail Design</a:t>
            </a:r>
          </a:p>
          <a:p>
            <a:r>
              <a:rPr lang="en-US" dirty="0"/>
              <a:t>Design Problem with the tip and the heat coupler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43FCD7-196D-6996-0E8E-9139B9E38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Meeting </a:t>
            </a:r>
          </a:p>
        </p:txBody>
      </p:sp>
    </p:spTree>
    <p:extLst>
      <p:ext uri="{BB962C8B-B14F-4D97-AF65-F5344CB8AC3E}">
        <p14:creationId xmlns:p14="http://schemas.microsoft.com/office/powerpoint/2010/main" val="2829157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26A14A-2D94-73FD-11F2-EFF151ED8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Fixed the endoscope camera at 30° viewing angle.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Fine modelling of the endoscope camera</a:t>
            </a:r>
            <a:br>
              <a:rPr lang="en-ZA" dirty="0"/>
            </a:br>
            <a:endParaRPr lang="en-ZA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365494-44F9-3AB5-5556-05FFC459A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This weeks progress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4D6F00-8953-5419-AE77-EE6EF0552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359523" y="1831644"/>
            <a:ext cx="2426904" cy="475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439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A2A946-B8F3-4D7E-4FEE-2D1829B0A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dirty="0"/>
              <a:t>Finish Drawing Pack of Laparoscope</a:t>
            </a:r>
          </a:p>
          <a:p>
            <a:r>
              <a:rPr lang="en-ZA" dirty="0"/>
              <a:t>Start with the heat analysis</a:t>
            </a:r>
          </a:p>
          <a:p>
            <a:endParaRPr lang="en-ZA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6E98E7-EE7C-3D2F-F4FB-89CBC7038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This week’s planned progress</a:t>
            </a:r>
          </a:p>
        </p:txBody>
      </p:sp>
    </p:spTree>
    <p:extLst>
      <p:ext uri="{BB962C8B-B14F-4D97-AF65-F5344CB8AC3E}">
        <p14:creationId xmlns:p14="http://schemas.microsoft.com/office/powerpoint/2010/main" val="3750046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47EFFD-6656-A126-0880-4BB8468A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Gantt Chart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CD6C33-B76F-70EE-9572-F3ECA36EA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9C4378-E7F4-031C-295E-5165F0B98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65" y="1707775"/>
            <a:ext cx="11152670" cy="344245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1E6BB7-08D2-39E2-BEF7-881DC9504602}"/>
              </a:ext>
            </a:extLst>
          </p:cNvPr>
          <p:cNvCxnSpPr>
            <a:cxnSpLocks/>
          </p:cNvCxnSpPr>
          <p:nvPr/>
        </p:nvCxnSpPr>
        <p:spPr>
          <a:xfrm>
            <a:off x="7390408" y="1503680"/>
            <a:ext cx="0" cy="373888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620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">
            <a:extLst>
              <a:ext uri="{FF2B5EF4-FFF2-40B4-BE49-F238E27FC236}">
                <a16:creationId xmlns:a16="http://schemas.microsoft.com/office/drawing/2014/main" id="{C0B95DC7-405E-0DAE-33C4-786C54F1FC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" name="SU shape">
            <a:extLst>
              <a:ext uri="{FF2B5EF4-FFF2-40B4-BE49-F238E27FC236}">
                <a16:creationId xmlns:a16="http://schemas.microsoft.com/office/drawing/2014/main" id="{158BEB47-8466-6EA9-429B-31B802564F90}"/>
              </a:ext>
            </a:extLst>
          </p:cNvPr>
          <p:cNvSpPr/>
          <p:nvPr/>
        </p:nvSpPr>
        <p:spPr>
          <a:xfrm>
            <a:off x="0" y="2740781"/>
            <a:ext cx="4563529" cy="2456861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Photo by ...">
            <a:extLst>
              <a:ext uri="{FF2B5EF4-FFF2-40B4-BE49-F238E27FC236}">
                <a16:creationId xmlns:a16="http://schemas.microsoft.com/office/drawing/2014/main" id="{462A99E7-3842-07D7-CA8E-041BC17CC8BF}"/>
              </a:ext>
            </a:extLst>
          </p:cNvPr>
          <p:cNvSpPr txBox="1"/>
          <p:nvPr/>
        </p:nvSpPr>
        <p:spPr>
          <a:xfrm>
            <a:off x="10689903" y="6546486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DE245650-CF3D-BC4D-12F6-86D9EEC8605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5488" y="194982"/>
            <a:ext cx="3367549" cy="1820507"/>
          </a:xfrm>
          <a:prstGeom prst="rect">
            <a:avLst/>
          </a:prstGeom>
        </p:spPr>
      </p:pic>
      <p:sp>
        <p:nvSpPr>
          <p:cNvPr id="62" name="Title ">
            <a:extLst>
              <a:ext uri="{FF2B5EF4-FFF2-40B4-BE49-F238E27FC236}">
                <a16:creationId xmlns:a16="http://schemas.microsoft.com/office/drawing/2014/main" id="{8FE30489-4F84-58B6-0499-C23D7D46E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075" y="3241168"/>
            <a:ext cx="2799378" cy="1456087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r>
              <a:rPr lang="en-US" dirty="0" err="1"/>
              <a:t>Enkosi</a:t>
            </a:r>
            <a:br>
              <a:rPr lang="en-US" dirty="0"/>
            </a:br>
            <a:r>
              <a:rPr lang="en-US" dirty="0" err="1"/>
              <a:t>Dankie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293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GINEERING#2022">
      <a:dk1>
        <a:srgbClr val="4D5356"/>
      </a:dk1>
      <a:lt1>
        <a:srgbClr val="FFFFFF"/>
      </a:lt1>
      <a:dk2>
        <a:srgbClr val="4D5356"/>
      </a:dk2>
      <a:lt2>
        <a:srgbClr val="FFFFFF"/>
      </a:lt2>
      <a:accent1>
        <a:srgbClr val="61223B"/>
      </a:accent1>
      <a:accent2>
        <a:srgbClr val="B79962"/>
      </a:accent2>
      <a:accent3>
        <a:srgbClr val="EBA900"/>
      </a:accent3>
      <a:accent4>
        <a:srgbClr val="8C979A"/>
      </a:accent4>
      <a:accent5>
        <a:srgbClr val="61223B"/>
      </a:accent5>
      <a:accent6>
        <a:srgbClr val="8B2346"/>
      </a:accent6>
      <a:hlink>
        <a:srgbClr val="B79962"/>
      </a:hlink>
      <a:folHlink>
        <a:srgbClr val="8C979A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B3423FE29EEC49A5FBBA28DDDCC119" ma:contentTypeVersion="18" ma:contentTypeDescription="Create a new document." ma:contentTypeScope="" ma:versionID="9fc8a1d5995b99482319092492896ab1">
  <xsd:schema xmlns:xsd="http://www.w3.org/2001/XMLSchema" xmlns:xs="http://www.w3.org/2001/XMLSchema" xmlns:p="http://schemas.microsoft.com/office/2006/metadata/properties" xmlns:ns2="5270dd94-f8cf-4d97-83e9-08c5e417fbc3" xmlns:ns3="32320dda-a88b-47bc-962e-2aaac57cca39" targetNamespace="http://schemas.microsoft.com/office/2006/metadata/properties" ma:root="true" ma:fieldsID="8d1b018b7732862bda1a1f425d035c40" ns2:_="" ns3:_="">
    <xsd:import namespace="5270dd94-f8cf-4d97-83e9-08c5e417fbc3"/>
    <xsd:import namespace="32320dda-a88b-47bc-962e-2aaac57cca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0dd94-f8cf-4d97-83e9-08c5e417fb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52a57b7-faf8-40f9-a460-bb3073308a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320dda-a88b-47bc-962e-2aaac57cca3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51cf5e1-6aa9-45e4-957f-34d7a3494660}" ma:internalName="TaxCatchAll" ma:showField="CatchAllData" ma:web="32320dda-a88b-47bc-962e-2aaac57cca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2320dda-a88b-47bc-962e-2aaac57cca39" xsi:nil="true"/>
    <lcf76f155ced4ddcb4097134ff3c332f xmlns="5270dd94-f8cf-4d97-83e9-08c5e417fbc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892287B-DDA9-43AF-877D-51351E0FB6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8CF45D-B0CB-452D-8F6F-8B5D18CEA1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70dd94-f8cf-4d97-83e9-08c5e417fbc3"/>
    <ds:schemaRef ds:uri="32320dda-a88b-47bc-962e-2aaac57cca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0299697-2CF8-477D-9BB6-43782C4197C7}">
  <ds:schemaRefs>
    <ds:schemaRef ds:uri="http://schemas.microsoft.com/office/2006/metadata/properties"/>
    <ds:schemaRef ds:uri="http://schemas.microsoft.com/office/infopath/2007/PartnerControls"/>
    <ds:schemaRef ds:uri="32320dda-a88b-47bc-962e-2aaac57cca39"/>
    <ds:schemaRef ds:uri="5270dd94-f8cf-4d97-83e9-08c5e417fbc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42144</TotalTime>
  <Words>272</Words>
  <Application>Microsoft Office PowerPoint</Application>
  <PresentationFormat>Widescreen</PresentationFormat>
  <Paragraphs>39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-apple-system</vt:lpstr>
      <vt:lpstr>Arial</vt:lpstr>
      <vt:lpstr>Calibri</vt:lpstr>
      <vt:lpstr>Raleway</vt:lpstr>
      <vt:lpstr>Trebuchet MS</vt:lpstr>
      <vt:lpstr>Wingdings</vt:lpstr>
      <vt:lpstr>Office Theme</vt:lpstr>
      <vt:lpstr>Weekly Meeting 5 Mei 2026 By Pieter Breytenbach</vt:lpstr>
      <vt:lpstr>Last Week Meeting </vt:lpstr>
      <vt:lpstr>This weeks progress</vt:lpstr>
      <vt:lpstr>This week’s planned progress</vt:lpstr>
      <vt:lpstr>Gantt Chart</vt:lpstr>
      <vt:lpstr>Thank you Enkosi Dankie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Muller, L, Mev [lm2@sun.ac.za]</dc:creator>
  <cp:lastModifiedBy>Breytenbach, PW, Mr [26122146@sun.ac.za]</cp:lastModifiedBy>
  <cp:revision>754</cp:revision>
  <dcterms:created xsi:type="dcterms:W3CDTF">2021-09-15T08:20:16Z</dcterms:created>
  <dcterms:modified xsi:type="dcterms:W3CDTF">2026-05-05T10:11:48Z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0x010100008C6D65BAC40A45BAB92F14DB5F4FAF</vt:lpwstr>
  </property>
  <property fmtid="{D5CDD505-2E9C-101B-9397-08002B2CF9AE}" pid="3" name="MediaServiceImageTags">
    <vt:lpwstr/>
  </property>
</Properties>
</file>